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9753600" cy="7315200"/>
  <p:notesSz cx="6858000" cy="9144000"/>
  <p:embeddedFontLst>
    <p:embeddedFont>
      <p:font typeface="League Spartan" charset="1" panose="00000800000000000000"/>
      <p:regular r:id="rId13"/>
    </p:embeddedFont>
    <p:embeddedFont>
      <p:font typeface="Open Sans Light" charset="1" panose="020B0306030504020204"/>
      <p:regular r:id="rId14"/>
    </p:embeddedFont>
    <p:embeddedFont>
      <p:font typeface="Montserrat Bold" charset="1" panose="00000800000000000000"/>
      <p:regular r:id="rId15"/>
    </p:embeddedFont>
    <p:embeddedFont>
      <p:font typeface="Montserrat" charset="1" panose="000005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0">
            <a:off x="0" y="0"/>
            <a:ext cx="9753600" cy="2994032"/>
            <a:chOff x="0" y="0"/>
            <a:chExt cx="8893148" cy="2729901"/>
          </a:xfrm>
        </p:grpSpPr>
        <p:sp>
          <p:nvSpPr>
            <p:cNvPr name="Freeform 3" id="3"/>
            <p:cNvSpPr/>
            <p:nvPr/>
          </p:nvSpPr>
          <p:spPr>
            <a:xfrm flipH="false" flipV="false" rot="0">
              <a:off x="0" y="0"/>
              <a:ext cx="8893148" cy="2729901"/>
            </a:xfrm>
            <a:custGeom>
              <a:avLst/>
              <a:gdLst/>
              <a:ahLst/>
              <a:cxnLst/>
              <a:rect r="r" b="b" t="t" l="l"/>
              <a:pathLst>
                <a:path h="2729901" w="8893148">
                  <a:moveTo>
                    <a:pt x="0" y="0"/>
                  </a:moveTo>
                  <a:lnTo>
                    <a:pt x="8893148" y="0"/>
                  </a:lnTo>
                  <a:lnTo>
                    <a:pt x="8893148" y="2729901"/>
                  </a:lnTo>
                  <a:lnTo>
                    <a:pt x="0" y="2729901"/>
                  </a:lnTo>
                  <a:close/>
                </a:path>
              </a:pathLst>
            </a:custGeom>
            <a:solidFill>
              <a:srgbClr val="FFFFFF"/>
            </a:solidFill>
          </p:spPr>
        </p:sp>
        <p:sp>
          <p:nvSpPr>
            <p:cNvPr name="TextBox 4" id="4"/>
            <p:cNvSpPr txBox="true"/>
            <p:nvPr/>
          </p:nvSpPr>
          <p:spPr>
            <a:xfrm>
              <a:off x="0" y="-28575"/>
              <a:ext cx="8893148" cy="2758476"/>
            </a:xfrm>
            <a:prstGeom prst="rect">
              <a:avLst/>
            </a:prstGeom>
          </p:spPr>
          <p:txBody>
            <a:bodyPr anchor="ctr" rtlCol="false" tIns="27093" lIns="27093" bIns="27093" rIns="27093"/>
            <a:lstStyle/>
            <a:p>
              <a:pPr algn="ctr">
                <a:lnSpc>
                  <a:spcPts val="1418"/>
                </a:lnSpc>
                <a:spcBef>
                  <a:spcPct val="0"/>
                </a:spcBef>
              </a:pPr>
            </a:p>
          </p:txBody>
        </p:sp>
      </p:grpSp>
      <p:sp>
        <p:nvSpPr>
          <p:cNvPr name="TextBox 5" id="5"/>
          <p:cNvSpPr txBox="true"/>
          <p:nvPr/>
        </p:nvSpPr>
        <p:spPr>
          <a:xfrm rot="0">
            <a:off x="1221836" y="1694728"/>
            <a:ext cx="7800244" cy="3211370"/>
          </a:xfrm>
          <a:prstGeom prst="rect">
            <a:avLst/>
          </a:prstGeom>
        </p:spPr>
        <p:txBody>
          <a:bodyPr anchor="t" rtlCol="false" tIns="0" lIns="0" bIns="0" rIns="0">
            <a:spAutoFit/>
          </a:bodyPr>
          <a:lstStyle/>
          <a:p>
            <a:pPr algn="ctr">
              <a:lnSpc>
                <a:spcPts val="5170"/>
              </a:lnSpc>
            </a:pPr>
            <a:r>
              <a:rPr lang="en-US" sz="3693" spc="369">
                <a:solidFill>
                  <a:srgbClr val="000000"/>
                </a:solidFill>
                <a:latin typeface="League Spartan"/>
                <a:ea typeface="League Spartan"/>
                <a:cs typeface="League Spartan"/>
                <a:sym typeface="League Spartan"/>
              </a:rPr>
              <a:t>Transforming Teaching Learning with Design Thinking based Instructional Design. </a:t>
            </a:r>
          </a:p>
          <a:p>
            <a:pPr algn="ctr">
              <a:lnSpc>
                <a:spcPts val="5170"/>
              </a:lnSpc>
            </a:pP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0">
            <a:off x="5592827" y="504920"/>
            <a:ext cx="3832997" cy="6370551"/>
            <a:chOff x="0" y="0"/>
            <a:chExt cx="2614094" cy="4344699"/>
          </a:xfrm>
        </p:grpSpPr>
        <p:sp>
          <p:nvSpPr>
            <p:cNvPr name="Freeform 3" id="3"/>
            <p:cNvSpPr/>
            <p:nvPr/>
          </p:nvSpPr>
          <p:spPr>
            <a:xfrm flipH="false" flipV="false" rot="0">
              <a:off x="0" y="0"/>
              <a:ext cx="2614094" cy="4344699"/>
            </a:xfrm>
            <a:custGeom>
              <a:avLst/>
              <a:gdLst/>
              <a:ahLst/>
              <a:cxnLst/>
              <a:rect r="r" b="b" t="t" l="l"/>
              <a:pathLst>
                <a:path h="4344699" w="2614094">
                  <a:moveTo>
                    <a:pt x="0" y="0"/>
                  </a:moveTo>
                  <a:lnTo>
                    <a:pt x="2614094" y="0"/>
                  </a:lnTo>
                  <a:lnTo>
                    <a:pt x="2614094" y="4344699"/>
                  </a:lnTo>
                  <a:lnTo>
                    <a:pt x="0" y="4344699"/>
                  </a:lnTo>
                  <a:close/>
                </a:path>
              </a:pathLst>
            </a:custGeom>
            <a:solidFill>
              <a:srgbClr val="FFFFFF"/>
            </a:solidFill>
          </p:spPr>
        </p:sp>
        <p:sp>
          <p:nvSpPr>
            <p:cNvPr name="TextBox 4" id="4"/>
            <p:cNvSpPr txBox="true"/>
            <p:nvPr/>
          </p:nvSpPr>
          <p:spPr>
            <a:xfrm>
              <a:off x="0" y="-28575"/>
              <a:ext cx="2614094" cy="4373274"/>
            </a:xfrm>
            <a:prstGeom prst="rect">
              <a:avLst/>
            </a:prstGeom>
          </p:spPr>
          <p:txBody>
            <a:bodyPr anchor="ctr" rtlCol="false" tIns="27093" lIns="27093" bIns="27093" rIns="27093"/>
            <a:lstStyle/>
            <a:p>
              <a:pPr algn="ctr">
                <a:lnSpc>
                  <a:spcPts val="1418"/>
                </a:lnSpc>
                <a:spcBef>
                  <a:spcPct val="0"/>
                </a:spcBef>
              </a:pPr>
            </a:p>
          </p:txBody>
        </p:sp>
      </p:grpSp>
      <p:grpSp>
        <p:nvGrpSpPr>
          <p:cNvPr name="Group 5" id="5"/>
          <p:cNvGrpSpPr/>
          <p:nvPr/>
        </p:nvGrpSpPr>
        <p:grpSpPr>
          <a:xfrm rot="0">
            <a:off x="1254243" y="504920"/>
            <a:ext cx="3986108" cy="6370551"/>
            <a:chOff x="0" y="0"/>
            <a:chExt cx="2718516" cy="4344699"/>
          </a:xfrm>
        </p:grpSpPr>
        <p:sp>
          <p:nvSpPr>
            <p:cNvPr name="Freeform 6" id="6"/>
            <p:cNvSpPr/>
            <p:nvPr/>
          </p:nvSpPr>
          <p:spPr>
            <a:xfrm flipH="false" flipV="false" rot="0">
              <a:off x="0" y="0"/>
              <a:ext cx="2718516" cy="4344699"/>
            </a:xfrm>
            <a:custGeom>
              <a:avLst/>
              <a:gdLst/>
              <a:ahLst/>
              <a:cxnLst/>
              <a:rect r="r" b="b" t="t" l="l"/>
              <a:pathLst>
                <a:path h="4344699" w="2718516">
                  <a:moveTo>
                    <a:pt x="0" y="0"/>
                  </a:moveTo>
                  <a:lnTo>
                    <a:pt x="2718516" y="0"/>
                  </a:lnTo>
                  <a:lnTo>
                    <a:pt x="2718516" y="4344699"/>
                  </a:lnTo>
                  <a:lnTo>
                    <a:pt x="0" y="4344699"/>
                  </a:lnTo>
                  <a:close/>
                </a:path>
              </a:pathLst>
            </a:custGeom>
            <a:solidFill>
              <a:srgbClr val="FFFFFF"/>
            </a:solidFill>
          </p:spPr>
        </p:sp>
        <p:sp>
          <p:nvSpPr>
            <p:cNvPr name="TextBox 7" id="7"/>
            <p:cNvSpPr txBox="true"/>
            <p:nvPr/>
          </p:nvSpPr>
          <p:spPr>
            <a:xfrm>
              <a:off x="0" y="-28575"/>
              <a:ext cx="2718516" cy="4373274"/>
            </a:xfrm>
            <a:prstGeom prst="rect">
              <a:avLst/>
            </a:prstGeom>
          </p:spPr>
          <p:txBody>
            <a:bodyPr anchor="ctr" rtlCol="false" tIns="27093" lIns="27093" bIns="27093" rIns="27093"/>
            <a:lstStyle/>
            <a:p>
              <a:pPr algn="ctr">
                <a:lnSpc>
                  <a:spcPts val="1418"/>
                </a:lnSpc>
                <a:spcBef>
                  <a:spcPct val="0"/>
                </a:spcBef>
              </a:pPr>
              <a:r>
                <a:rPr lang="en-US" sz="1013">
                  <a:solidFill>
                    <a:srgbClr val="FFFFFF"/>
                  </a:solidFill>
                  <a:latin typeface="Open Sans Light"/>
                  <a:ea typeface="Open Sans Light"/>
                  <a:cs typeface="Open Sans Light"/>
                  <a:sym typeface="Open Sans Light"/>
                </a:rPr>
                <a:t>To explain the cause of To explain the cause of First War Of IndependenceFirst War Of IndependenceTo explain the cause of First War Of Independence</a:t>
              </a:r>
            </a:p>
          </p:txBody>
        </p:sp>
      </p:grpSp>
      <p:sp>
        <p:nvSpPr>
          <p:cNvPr name="TextBox 8" id="8"/>
          <p:cNvSpPr txBox="true"/>
          <p:nvPr/>
        </p:nvSpPr>
        <p:spPr>
          <a:xfrm rot="0">
            <a:off x="1788780" y="2163760"/>
            <a:ext cx="3241131" cy="2567094"/>
          </a:xfrm>
          <a:prstGeom prst="rect">
            <a:avLst/>
          </a:prstGeom>
        </p:spPr>
        <p:txBody>
          <a:bodyPr anchor="t" rtlCol="false" tIns="0" lIns="0" bIns="0" rIns="0">
            <a:spAutoFit/>
          </a:bodyPr>
          <a:lstStyle/>
          <a:p>
            <a:pPr algn="ctr">
              <a:lnSpc>
                <a:spcPts val="3406"/>
              </a:lnSpc>
              <a:spcBef>
                <a:spcPct val="0"/>
              </a:spcBef>
            </a:pPr>
            <a:r>
              <a:rPr lang="en-US" sz="2433">
                <a:solidFill>
                  <a:srgbClr val="20160E"/>
                </a:solidFill>
                <a:latin typeface="League Spartan"/>
                <a:ea typeface="League Spartan"/>
                <a:cs typeface="League Spartan"/>
                <a:sym typeface="League Spartan"/>
              </a:rPr>
              <a:t>Purpose:</a:t>
            </a:r>
          </a:p>
          <a:p>
            <a:pPr algn="ctr">
              <a:lnSpc>
                <a:spcPts val="3406"/>
              </a:lnSpc>
              <a:spcBef>
                <a:spcPct val="0"/>
              </a:spcBef>
            </a:pPr>
          </a:p>
          <a:p>
            <a:pPr algn="ctr">
              <a:lnSpc>
                <a:spcPts val="3406"/>
              </a:lnSpc>
              <a:spcBef>
                <a:spcPct val="0"/>
              </a:spcBef>
            </a:pPr>
          </a:p>
          <a:p>
            <a:pPr algn="ctr">
              <a:lnSpc>
                <a:spcPts val="3406"/>
              </a:lnSpc>
              <a:spcBef>
                <a:spcPct val="0"/>
              </a:spcBef>
            </a:pPr>
            <a:r>
              <a:rPr lang="en-US" sz="2433">
                <a:solidFill>
                  <a:srgbClr val="20160E"/>
                </a:solidFill>
                <a:latin typeface="League Spartan"/>
                <a:ea typeface="League Spartan"/>
                <a:cs typeface="League Spartan"/>
                <a:sym typeface="League Spartan"/>
              </a:rPr>
              <a:t>To explain the cause of First War Of Independence</a:t>
            </a:r>
          </a:p>
        </p:txBody>
      </p:sp>
      <p:sp>
        <p:nvSpPr>
          <p:cNvPr name="TextBox 9" id="9"/>
          <p:cNvSpPr txBox="true"/>
          <p:nvPr/>
        </p:nvSpPr>
        <p:spPr>
          <a:xfrm rot="0">
            <a:off x="5692117" y="2173285"/>
            <a:ext cx="3634418" cy="2833953"/>
          </a:xfrm>
          <a:prstGeom prst="rect">
            <a:avLst/>
          </a:prstGeom>
        </p:spPr>
        <p:txBody>
          <a:bodyPr anchor="t" rtlCol="false" tIns="0" lIns="0" bIns="0" rIns="0">
            <a:spAutoFit/>
          </a:bodyPr>
          <a:lstStyle/>
          <a:p>
            <a:pPr algn="ctr">
              <a:lnSpc>
                <a:spcPts val="3230"/>
              </a:lnSpc>
              <a:spcBef>
                <a:spcPct val="0"/>
              </a:spcBef>
            </a:pPr>
            <a:r>
              <a:rPr lang="en-US" sz="2307">
                <a:solidFill>
                  <a:srgbClr val="000000"/>
                </a:solidFill>
                <a:latin typeface="League Spartan"/>
                <a:ea typeface="League Spartan"/>
                <a:cs typeface="League Spartan"/>
                <a:sym typeface="League Spartan"/>
              </a:rPr>
              <a:t>O</a:t>
            </a:r>
            <a:r>
              <a:rPr lang="en-US" sz="2307">
                <a:solidFill>
                  <a:srgbClr val="000000"/>
                </a:solidFill>
                <a:latin typeface="League Spartan"/>
                <a:ea typeface="League Spartan"/>
                <a:cs typeface="League Spartan"/>
                <a:sym typeface="League Spartan"/>
              </a:rPr>
              <a:t>bjectives:</a:t>
            </a:r>
          </a:p>
          <a:p>
            <a:pPr algn="ctr">
              <a:lnSpc>
                <a:spcPts val="3230"/>
              </a:lnSpc>
              <a:spcBef>
                <a:spcPct val="0"/>
              </a:spcBef>
            </a:pPr>
          </a:p>
          <a:p>
            <a:pPr algn="ctr">
              <a:lnSpc>
                <a:spcPts val="3230"/>
              </a:lnSpc>
              <a:spcBef>
                <a:spcPct val="0"/>
              </a:spcBef>
            </a:pPr>
            <a:r>
              <a:rPr lang="en-US" sz="2307">
                <a:solidFill>
                  <a:srgbClr val="000000"/>
                </a:solidFill>
                <a:latin typeface="League Spartan"/>
                <a:ea typeface="League Spartan"/>
                <a:cs typeface="League Spartan"/>
                <a:sym typeface="League Spartan"/>
              </a:rPr>
              <a:t> To provide the capability for learners to explain why Indian’s revolted against the British in 1987.</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AutoShape 2" id="2"/>
          <p:cNvSpPr/>
          <p:nvPr/>
        </p:nvSpPr>
        <p:spPr>
          <a:xfrm flipV="true">
            <a:off x="925697" y="1463040"/>
            <a:ext cx="0" cy="4389120"/>
          </a:xfrm>
          <a:prstGeom prst="line">
            <a:avLst/>
          </a:prstGeom>
          <a:ln cap="flat" w="9525">
            <a:solidFill>
              <a:srgbClr val="000000"/>
            </a:solidFill>
            <a:prstDash val="solid"/>
            <a:headEnd type="none" len="sm" w="sm"/>
            <a:tailEnd type="none" len="sm" w="sm"/>
          </a:ln>
        </p:spPr>
      </p:sp>
      <p:grpSp>
        <p:nvGrpSpPr>
          <p:cNvPr name="Group 3" id="3"/>
          <p:cNvGrpSpPr/>
          <p:nvPr/>
        </p:nvGrpSpPr>
        <p:grpSpPr>
          <a:xfrm rot="0">
            <a:off x="5600595" y="0"/>
            <a:ext cx="4153005" cy="7315200"/>
            <a:chOff x="0" y="0"/>
            <a:chExt cx="2050867" cy="3612444"/>
          </a:xfrm>
        </p:grpSpPr>
        <p:sp>
          <p:nvSpPr>
            <p:cNvPr name="Freeform 4" id="4"/>
            <p:cNvSpPr/>
            <p:nvPr/>
          </p:nvSpPr>
          <p:spPr>
            <a:xfrm flipH="false" flipV="false" rot="0">
              <a:off x="0" y="0"/>
              <a:ext cx="2050867" cy="3612445"/>
            </a:xfrm>
            <a:custGeom>
              <a:avLst/>
              <a:gdLst/>
              <a:ahLst/>
              <a:cxnLst/>
              <a:rect r="r" b="b" t="t" l="l"/>
              <a:pathLst>
                <a:path h="3612445" w="2050867">
                  <a:moveTo>
                    <a:pt x="0" y="0"/>
                  </a:moveTo>
                  <a:lnTo>
                    <a:pt x="2050867" y="0"/>
                  </a:lnTo>
                  <a:lnTo>
                    <a:pt x="2050867" y="3612445"/>
                  </a:lnTo>
                  <a:lnTo>
                    <a:pt x="0" y="3612445"/>
                  </a:lnTo>
                  <a:close/>
                </a:path>
              </a:pathLst>
            </a:custGeom>
            <a:solidFill>
              <a:srgbClr val="FFFFFF"/>
            </a:solidFill>
          </p:spPr>
        </p:sp>
        <p:sp>
          <p:nvSpPr>
            <p:cNvPr name="TextBox 5" id="5"/>
            <p:cNvSpPr txBox="true"/>
            <p:nvPr/>
          </p:nvSpPr>
          <p:spPr>
            <a:xfrm>
              <a:off x="0" y="-28575"/>
              <a:ext cx="2050867" cy="3641019"/>
            </a:xfrm>
            <a:prstGeom prst="rect">
              <a:avLst/>
            </a:prstGeom>
          </p:spPr>
          <p:txBody>
            <a:bodyPr anchor="ctr" rtlCol="false" tIns="27093" lIns="27093" bIns="27093" rIns="27093"/>
            <a:lstStyle/>
            <a:p>
              <a:pPr algn="ctr">
                <a:lnSpc>
                  <a:spcPts val="1418"/>
                </a:lnSpc>
                <a:spcBef>
                  <a:spcPct val="0"/>
                </a:spcBef>
              </a:pPr>
            </a:p>
          </p:txBody>
        </p:sp>
      </p:grpSp>
      <p:grpSp>
        <p:nvGrpSpPr>
          <p:cNvPr name="Group 6" id="6"/>
          <p:cNvGrpSpPr/>
          <p:nvPr/>
        </p:nvGrpSpPr>
        <p:grpSpPr>
          <a:xfrm rot="0">
            <a:off x="6299420" y="1800245"/>
            <a:ext cx="2755355" cy="3714709"/>
            <a:chOff x="0" y="0"/>
            <a:chExt cx="3673807" cy="4952946"/>
          </a:xfrm>
        </p:grpSpPr>
        <p:pic>
          <p:nvPicPr>
            <p:cNvPr name="Picture 7" id="7"/>
            <p:cNvPicPr>
              <a:picLocks noChangeAspect="true"/>
            </p:cNvPicPr>
            <p:nvPr/>
          </p:nvPicPr>
          <p:blipFill>
            <a:blip r:embed="rId2"/>
            <a:srcRect l="550" t="0" r="550" b="0"/>
            <a:stretch>
              <a:fillRect/>
            </a:stretch>
          </p:blipFill>
          <p:spPr>
            <a:xfrm flipH="false" flipV="false">
              <a:off x="0" y="0"/>
              <a:ext cx="3673807" cy="4952946"/>
            </a:xfrm>
            <a:prstGeom prst="rect">
              <a:avLst/>
            </a:prstGeom>
          </p:spPr>
        </p:pic>
      </p:grpSp>
      <p:sp>
        <p:nvSpPr>
          <p:cNvPr name="Freeform 8" id="8"/>
          <p:cNvSpPr/>
          <p:nvPr/>
        </p:nvSpPr>
        <p:spPr>
          <a:xfrm flipH="false" flipV="false" rot="0">
            <a:off x="2578557" y="1822027"/>
            <a:ext cx="1443789" cy="1097280"/>
          </a:xfrm>
          <a:custGeom>
            <a:avLst/>
            <a:gdLst/>
            <a:ahLst/>
            <a:cxnLst/>
            <a:rect r="r" b="b" t="t" l="l"/>
            <a:pathLst>
              <a:path h="1097280" w="1443789">
                <a:moveTo>
                  <a:pt x="0" y="0"/>
                </a:moveTo>
                <a:lnTo>
                  <a:pt x="1443790" y="0"/>
                </a:lnTo>
                <a:lnTo>
                  <a:pt x="1443790" y="1097280"/>
                </a:lnTo>
                <a:lnTo>
                  <a:pt x="0" y="1097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043878" y="2323042"/>
            <a:ext cx="4377049" cy="3099647"/>
          </a:xfrm>
          <a:prstGeom prst="rect">
            <a:avLst/>
          </a:prstGeom>
        </p:spPr>
        <p:txBody>
          <a:bodyPr anchor="t" rtlCol="false" tIns="0" lIns="0" bIns="0" rIns="0">
            <a:spAutoFit/>
          </a:bodyPr>
          <a:lstStyle/>
          <a:p>
            <a:pPr algn="l">
              <a:lnSpc>
                <a:spcPts val="3453"/>
              </a:lnSpc>
            </a:pPr>
            <a:r>
              <a:rPr lang="en-US" sz="2466" b="true">
                <a:solidFill>
                  <a:srgbClr val="000000"/>
                </a:solidFill>
                <a:latin typeface="Montserrat Bold"/>
                <a:ea typeface="Montserrat Bold"/>
                <a:cs typeface="Montserrat Bold"/>
                <a:sym typeface="Montserrat Bold"/>
              </a:rPr>
              <a:t>Knowledge about how British gained power in India.</a:t>
            </a:r>
          </a:p>
          <a:p>
            <a:pPr algn="l">
              <a:lnSpc>
                <a:spcPts val="3453"/>
              </a:lnSpc>
            </a:pPr>
          </a:p>
          <a:p>
            <a:pPr algn="l">
              <a:lnSpc>
                <a:spcPts val="3873"/>
              </a:lnSpc>
            </a:pPr>
            <a:r>
              <a:rPr lang="en-US" sz="2766">
                <a:solidFill>
                  <a:srgbClr val="000000"/>
                </a:solidFill>
                <a:latin typeface="Montserrat"/>
                <a:ea typeface="Montserrat"/>
                <a:cs typeface="Montserrat"/>
                <a:sym typeface="Montserrat"/>
              </a:rPr>
              <a:t>  </a:t>
            </a:r>
            <a:r>
              <a:rPr lang="en-US" sz="2766" b="true">
                <a:solidFill>
                  <a:srgbClr val="000000"/>
                </a:solidFill>
                <a:latin typeface="Montserrat Bold"/>
                <a:ea typeface="Montserrat Bold"/>
                <a:cs typeface="Montserrat Bold"/>
                <a:sym typeface="Montserrat Bold"/>
              </a:rPr>
              <a:t>Learning environment</a:t>
            </a:r>
          </a:p>
          <a:p>
            <a:pPr algn="l">
              <a:lnSpc>
                <a:spcPts val="3453"/>
              </a:lnSpc>
            </a:pPr>
          </a:p>
          <a:p>
            <a:pPr algn="l">
              <a:lnSpc>
                <a:spcPts val="3453"/>
              </a:lnSpc>
            </a:pPr>
            <a:r>
              <a:rPr lang="en-US" sz="2466" b="true">
                <a:solidFill>
                  <a:srgbClr val="000000"/>
                </a:solidFill>
                <a:latin typeface="Montserrat Bold"/>
                <a:ea typeface="Montserrat Bold"/>
                <a:cs typeface="Montserrat Bold"/>
                <a:sym typeface="Montserrat Bold"/>
              </a:rPr>
              <a:t>   Physical Classroom</a:t>
            </a:r>
          </a:p>
        </p:txBody>
      </p:sp>
      <p:sp>
        <p:nvSpPr>
          <p:cNvPr name="TextBox 10" id="10"/>
          <p:cNvSpPr txBox="true"/>
          <p:nvPr/>
        </p:nvSpPr>
        <p:spPr>
          <a:xfrm rot="0">
            <a:off x="1326520" y="1774402"/>
            <a:ext cx="3811765" cy="454963"/>
          </a:xfrm>
          <a:prstGeom prst="rect">
            <a:avLst/>
          </a:prstGeom>
        </p:spPr>
        <p:txBody>
          <a:bodyPr anchor="t" rtlCol="false" tIns="0" lIns="0" bIns="0" rIns="0">
            <a:spAutoFit/>
          </a:bodyPr>
          <a:lstStyle/>
          <a:p>
            <a:pPr algn="ctr">
              <a:lnSpc>
                <a:spcPts val="3798"/>
              </a:lnSpc>
            </a:pPr>
            <a:r>
              <a:rPr lang="en-US" sz="2713">
                <a:solidFill>
                  <a:srgbClr val="000000"/>
                </a:solidFill>
                <a:latin typeface="League Spartan"/>
                <a:ea typeface="League Spartan"/>
                <a:cs typeface="League Spartan"/>
                <a:sym typeface="League Spartan"/>
              </a:rPr>
              <a:t>Pre-requisite</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2870433" y="946943"/>
            <a:ext cx="4555933" cy="1321942"/>
          </a:xfrm>
          <a:prstGeom prst="rect">
            <a:avLst/>
          </a:prstGeom>
        </p:spPr>
        <p:txBody>
          <a:bodyPr anchor="t" rtlCol="false" tIns="0" lIns="0" bIns="0" rIns="0">
            <a:spAutoFit/>
          </a:bodyPr>
          <a:lstStyle/>
          <a:p>
            <a:pPr algn="ctr">
              <a:lnSpc>
                <a:spcPts val="5362"/>
              </a:lnSpc>
            </a:pPr>
            <a:r>
              <a:rPr lang="en-US" sz="3830">
                <a:solidFill>
                  <a:srgbClr val="000000"/>
                </a:solidFill>
                <a:latin typeface="League Spartan"/>
                <a:ea typeface="League Spartan"/>
                <a:cs typeface="League Spartan"/>
                <a:sym typeface="League Spartan"/>
              </a:rPr>
              <a:t>Performance goals</a:t>
            </a:r>
          </a:p>
        </p:txBody>
      </p:sp>
      <p:sp>
        <p:nvSpPr>
          <p:cNvPr name="TextBox 3" id="3"/>
          <p:cNvSpPr txBox="true"/>
          <p:nvPr/>
        </p:nvSpPr>
        <p:spPr>
          <a:xfrm rot="0">
            <a:off x="583939" y="2662100"/>
            <a:ext cx="8730797" cy="2175722"/>
          </a:xfrm>
          <a:prstGeom prst="rect">
            <a:avLst/>
          </a:prstGeom>
        </p:spPr>
        <p:txBody>
          <a:bodyPr anchor="t" rtlCol="false" tIns="0" lIns="0" bIns="0" rIns="0">
            <a:spAutoFit/>
          </a:bodyPr>
          <a:lstStyle/>
          <a:p>
            <a:pPr algn="l">
              <a:lnSpc>
                <a:spcPts val="3453"/>
              </a:lnSpc>
            </a:pPr>
            <a:r>
              <a:rPr lang="en-US" sz="2466">
                <a:solidFill>
                  <a:srgbClr val="000000"/>
                </a:solidFill>
                <a:latin typeface="League Spartan"/>
                <a:ea typeface="League Spartan"/>
                <a:cs typeface="League Spartan"/>
                <a:sym typeface="League Spartan"/>
              </a:rPr>
              <a:t>Students will be able to explain the major causes of the Revolt of 1857 by organizing them into categories (political, economic, social, and military) and clearly showing how these causes led Indians to revolt, using a visual or oral presentation.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0">
            <a:off x="0" y="0"/>
            <a:ext cx="3245708" cy="7315200"/>
            <a:chOff x="0" y="0"/>
            <a:chExt cx="1602819" cy="3612444"/>
          </a:xfrm>
        </p:grpSpPr>
        <p:sp>
          <p:nvSpPr>
            <p:cNvPr name="Freeform 3" id="3"/>
            <p:cNvSpPr/>
            <p:nvPr/>
          </p:nvSpPr>
          <p:spPr>
            <a:xfrm flipH="false" flipV="false" rot="0">
              <a:off x="0" y="0"/>
              <a:ext cx="1602819" cy="3612445"/>
            </a:xfrm>
            <a:custGeom>
              <a:avLst/>
              <a:gdLst/>
              <a:ahLst/>
              <a:cxnLst/>
              <a:rect r="r" b="b" t="t" l="l"/>
              <a:pathLst>
                <a:path h="3612445" w="1602819">
                  <a:moveTo>
                    <a:pt x="0" y="0"/>
                  </a:moveTo>
                  <a:lnTo>
                    <a:pt x="1602819" y="0"/>
                  </a:lnTo>
                  <a:lnTo>
                    <a:pt x="1602819" y="3612445"/>
                  </a:lnTo>
                  <a:lnTo>
                    <a:pt x="0" y="3612445"/>
                  </a:lnTo>
                  <a:close/>
                </a:path>
              </a:pathLst>
            </a:custGeom>
            <a:solidFill>
              <a:srgbClr val="FFFFFF"/>
            </a:solidFill>
          </p:spPr>
        </p:sp>
        <p:sp>
          <p:nvSpPr>
            <p:cNvPr name="TextBox 4" id="4"/>
            <p:cNvSpPr txBox="true"/>
            <p:nvPr/>
          </p:nvSpPr>
          <p:spPr>
            <a:xfrm>
              <a:off x="0" y="-28575"/>
              <a:ext cx="1602819" cy="3641019"/>
            </a:xfrm>
            <a:prstGeom prst="rect">
              <a:avLst/>
            </a:prstGeom>
          </p:spPr>
          <p:txBody>
            <a:bodyPr anchor="ctr" rtlCol="false" tIns="27093" lIns="27093" bIns="27093" rIns="27093"/>
            <a:lstStyle/>
            <a:p>
              <a:pPr algn="ctr">
                <a:lnSpc>
                  <a:spcPts val="1418"/>
                </a:lnSpc>
                <a:spcBef>
                  <a:spcPct val="0"/>
                </a:spcBef>
              </a:pPr>
            </a:p>
          </p:txBody>
        </p:sp>
      </p:grpSp>
      <p:sp>
        <p:nvSpPr>
          <p:cNvPr name="TextBox 5" id="5"/>
          <p:cNvSpPr txBox="true"/>
          <p:nvPr/>
        </p:nvSpPr>
        <p:spPr>
          <a:xfrm rot="0">
            <a:off x="4297433" y="447037"/>
            <a:ext cx="4320483" cy="1482899"/>
          </a:xfrm>
          <a:prstGeom prst="rect">
            <a:avLst/>
          </a:prstGeom>
        </p:spPr>
        <p:txBody>
          <a:bodyPr anchor="t" rtlCol="false" tIns="0" lIns="0" bIns="0" rIns="0">
            <a:spAutoFit/>
          </a:bodyPr>
          <a:lstStyle/>
          <a:p>
            <a:pPr algn="ctr">
              <a:lnSpc>
                <a:spcPts val="5940"/>
              </a:lnSpc>
            </a:pPr>
            <a:r>
              <a:rPr lang="en-US" sz="4243">
                <a:solidFill>
                  <a:srgbClr val="000000"/>
                </a:solidFill>
                <a:latin typeface="League Spartan"/>
                <a:ea typeface="League Spartan"/>
                <a:cs typeface="League Spartan"/>
                <a:sym typeface="League Spartan"/>
              </a:rPr>
              <a:t>Learning outcomes</a:t>
            </a:r>
          </a:p>
        </p:txBody>
      </p:sp>
      <p:grpSp>
        <p:nvGrpSpPr>
          <p:cNvPr name="Group 6" id="6"/>
          <p:cNvGrpSpPr/>
          <p:nvPr/>
        </p:nvGrpSpPr>
        <p:grpSpPr>
          <a:xfrm rot="0">
            <a:off x="731520" y="2069564"/>
            <a:ext cx="2103450" cy="2835825"/>
            <a:chOff x="0" y="0"/>
            <a:chExt cx="2804600" cy="3781100"/>
          </a:xfrm>
        </p:grpSpPr>
        <p:pic>
          <p:nvPicPr>
            <p:cNvPr name="Picture 7" id="7"/>
            <p:cNvPicPr>
              <a:picLocks noChangeAspect="true"/>
            </p:cNvPicPr>
            <p:nvPr/>
          </p:nvPicPr>
          <p:blipFill>
            <a:blip r:embed="rId2"/>
            <a:srcRect l="0" t="5060" r="0" b="5060"/>
            <a:stretch>
              <a:fillRect/>
            </a:stretch>
          </p:blipFill>
          <p:spPr>
            <a:xfrm flipH="false" flipV="false">
              <a:off x="0" y="0"/>
              <a:ext cx="2804600" cy="3781100"/>
            </a:xfrm>
            <a:prstGeom prst="rect">
              <a:avLst/>
            </a:prstGeom>
          </p:spPr>
        </p:pic>
      </p:grpSp>
      <p:sp>
        <p:nvSpPr>
          <p:cNvPr name="TextBox 8" id="8"/>
          <p:cNvSpPr txBox="true"/>
          <p:nvPr/>
        </p:nvSpPr>
        <p:spPr>
          <a:xfrm rot="0">
            <a:off x="3649923" y="2478956"/>
            <a:ext cx="5709167" cy="3579934"/>
          </a:xfrm>
          <a:prstGeom prst="rect">
            <a:avLst/>
          </a:prstGeom>
        </p:spPr>
        <p:txBody>
          <a:bodyPr anchor="t" rtlCol="false" tIns="0" lIns="0" bIns="0" rIns="0">
            <a:spAutoFit/>
          </a:bodyPr>
          <a:lstStyle/>
          <a:p>
            <a:pPr algn="l">
              <a:lnSpc>
                <a:spcPts val="3193"/>
              </a:lnSpc>
            </a:pPr>
            <a:r>
              <a:rPr lang="en-US" sz="2281">
                <a:solidFill>
                  <a:srgbClr val="000000"/>
                </a:solidFill>
                <a:latin typeface="League Spartan"/>
                <a:ea typeface="League Spartan"/>
                <a:cs typeface="League Spartan"/>
                <a:sym typeface="League Spartan"/>
              </a:rPr>
              <a:t>The Learner will be able </a:t>
            </a:r>
          </a:p>
          <a:p>
            <a:pPr algn="l">
              <a:lnSpc>
                <a:spcPts val="3193"/>
              </a:lnSpc>
            </a:pPr>
          </a:p>
          <a:p>
            <a:pPr algn="l">
              <a:lnSpc>
                <a:spcPts val="3193"/>
              </a:lnSpc>
            </a:pPr>
            <a:r>
              <a:rPr lang="en-US" sz="2281">
                <a:solidFill>
                  <a:srgbClr val="000000"/>
                </a:solidFill>
                <a:latin typeface="League Spartan"/>
                <a:ea typeface="League Spartan"/>
                <a:cs typeface="League Spartan"/>
                <a:sym typeface="League Spartan"/>
              </a:rPr>
              <a:t>1.Explain in their own words how British policies created dissatisfaction among Indians.</a:t>
            </a:r>
          </a:p>
          <a:p>
            <a:pPr algn="l">
              <a:lnSpc>
                <a:spcPts val="3193"/>
              </a:lnSpc>
            </a:pPr>
          </a:p>
          <a:p>
            <a:pPr algn="l">
              <a:lnSpc>
                <a:spcPts val="3193"/>
              </a:lnSpc>
            </a:pPr>
            <a:r>
              <a:rPr lang="en-US" sz="2281">
                <a:solidFill>
                  <a:srgbClr val="000000"/>
                </a:solidFill>
                <a:latin typeface="League Spartan"/>
                <a:ea typeface="League Spartan"/>
                <a:cs typeface="League Spartan"/>
                <a:sym typeface="League Spartan"/>
              </a:rPr>
              <a:t>2.Describe the relationship between unfair British actions and the outbreak of the revolt</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3579471" y="709425"/>
            <a:ext cx="4610355" cy="629157"/>
          </a:xfrm>
          <a:prstGeom prst="rect">
            <a:avLst/>
          </a:prstGeom>
        </p:spPr>
        <p:txBody>
          <a:bodyPr anchor="t" rtlCol="false" tIns="0" lIns="0" bIns="0" rIns="0">
            <a:spAutoFit/>
          </a:bodyPr>
          <a:lstStyle/>
          <a:p>
            <a:pPr algn="ctr">
              <a:lnSpc>
                <a:spcPts val="5222"/>
              </a:lnSpc>
            </a:pPr>
            <a:r>
              <a:rPr lang="en-US" sz="3730">
                <a:solidFill>
                  <a:srgbClr val="000000"/>
                </a:solidFill>
                <a:latin typeface="League Spartan"/>
                <a:ea typeface="League Spartan"/>
                <a:cs typeface="League Spartan"/>
                <a:sym typeface="League Spartan"/>
              </a:rPr>
              <a:t>Delivery methods</a:t>
            </a:r>
          </a:p>
        </p:txBody>
      </p:sp>
      <p:sp>
        <p:nvSpPr>
          <p:cNvPr name="TextBox 3" id="3"/>
          <p:cNvSpPr txBox="true"/>
          <p:nvPr/>
        </p:nvSpPr>
        <p:spPr>
          <a:xfrm rot="0">
            <a:off x="1902672" y="2138383"/>
            <a:ext cx="7312305" cy="3490173"/>
          </a:xfrm>
          <a:prstGeom prst="rect">
            <a:avLst/>
          </a:prstGeom>
        </p:spPr>
        <p:txBody>
          <a:bodyPr anchor="t" rtlCol="false" tIns="0" lIns="0" bIns="0" rIns="0">
            <a:spAutoFit/>
          </a:bodyPr>
          <a:lstStyle/>
          <a:p>
            <a:pPr algn="ctr">
              <a:lnSpc>
                <a:spcPts val="3453"/>
              </a:lnSpc>
            </a:pPr>
            <a:r>
              <a:rPr lang="en-US" sz="2466">
                <a:solidFill>
                  <a:srgbClr val="000000"/>
                </a:solidFill>
                <a:latin typeface="League Spartan"/>
                <a:ea typeface="League Spartan"/>
                <a:cs typeface="League Spartan"/>
                <a:sym typeface="League Spartan"/>
              </a:rPr>
              <a:t>Stage 0: Short story</a:t>
            </a:r>
          </a:p>
          <a:p>
            <a:pPr algn="ctr">
              <a:lnSpc>
                <a:spcPts val="3453"/>
              </a:lnSpc>
            </a:pPr>
            <a:r>
              <a:rPr lang="en-US" sz="2466">
                <a:solidFill>
                  <a:srgbClr val="000000"/>
                </a:solidFill>
                <a:latin typeface="League Spartan"/>
                <a:ea typeface="League Spartan"/>
                <a:cs typeface="League Spartan"/>
                <a:sym typeface="League Spartan"/>
              </a:rPr>
              <a:t>Stage I: Let students discover ideas through questioning</a:t>
            </a:r>
          </a:p>
          <a:p>
            <a:pPr algn="ctr">
              <a:lnSpc>
                <a:spcPts val="3453"/>
              </a:lnSpc>
            </a:pPr>
            <a:r>
              <a:rPr lang="en-US" sz="2466">
                <a:solidFill>
                  <a:srgbClr val="000000"/>
                </a:solidFill>
                <a:latin typeface="League Spartan"/>
                <a:ea typeface="League Spartan"/>
                <a:cs typeface="League Spartan"/>
                <a:sym typeface="League Spartan"/>
              </a:rPr>
              <a:t>Stage II: Develop clear understanding of causes Stage III:Chart showing the causes</a:t>
            </a:r>
          </a:p>
          <a:p>
            <a:pPr algn="ctr">
              <a:lnSpc>
                <a:spcPts val="3453"/>
              </a:lnSpc>
            </a:pPr>
            <a:r>
              <a:rPr lang="en-US" sz="2466">
                <a:solidFill>
                  <a:srgbClr val="000000"/>
                </a:solidFill>
                <a:latin typeface="League Spartan"/>
                <a:ea typeface="League Spartan"/>
                <a:cs typeface="League Spartan"/>
                <a:sym typeface="League Spartan"/>
              </a:rPr>
              <a:t>Stage IV: Role Play</a:t>
            </a:r>
          </a:p>
          <a:p>
            <a:pPr algn="ctr">
              <a:lnSpc>
                <a:spcPts val="3453"/>
              </a:lnSpc>
            </a:pPr>
            <a:r>
              <a:rPr lang="en-US" sz="2466">
                <a:solidFill>
                  <a:srgbClr val="000000"/>
                </a:solidFill>
                <a:latin typeface="League Spartan"/>
                <a:ea typeface="League Spartan"/>
                <a:cs typeface="League Spartan"/>
                <a:sym typeface="League Spartan"/>
              </a:rPr>
              <a:t>Stage V: Evaluation</a:t>
            </a:r>
          </a:p>
          <a:p>
            <a:pPr algn="ctr">
              <a:lnSpc>
                <a:spcPts val="3453"/>
              </a:lnSpc>
            </a:pPr>
            <a:r>
              <a:rPr lang="en-US" sz="2466">
                <a:solidFill>
                  <a:srgbClr val="000000"/>
                </a:solidFill>
                <a:latin typeface="League Spartan"/>
                <a:ea typeface="League Spartan"/>
                <a:cs typeface="League Spartan"/>
                <a:sym typeface="League Spartan"/>
              </a:rPr>
              <a:t>Stage VI: Retrospection</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171087" y="1510962"/>
            <a:ext cx="7448031" cy="3915282"/>
          </a:xfrm>
          <a:prstGeom prst="rect">
            <a:avLst/>
          </a:prstGeom>
        </p:spPr>
        <p:txBody>
          <a:bodyPr anchor="t" rtlCol="false" tIns="0" lIns="0" bIns="0" rIns="0">
            <a:spAutoFit/>
          </a:bodyPr>
          <a:lstStyle/>
          <a:p>
            <a:pPr algn="ctr">
              <a:lnSpc>
                <a:spcPts val="5222"/>
              </a:lnSpc>
            </a:pPr>
            <a:r>
              <a:rPr lang="en-US" sz="3730">
                <a:solidFill>
                  <a:srgbClr val="000000"/>
                </a:solidFill>
                <a:latin typeface="League Spartan"/>
                <a:ea typeface="League Spartan"/>
                <a:cs typeface="League Spartan"/>
                <a:sym typeface="League Spartan"/>
              </a:rPr>
              <a:t>Assessment type</a:t>
            </a:r>
          </a:p>
          <a:p>
            <a:pPr algn="ctr">
              <a:lnSpc>
                <a:spcPts val="5222"/>
              </a:lnSpc>
            </a:pPr>
            <a:r>
              <a:rPr lang="en-US" sz="3730">
                <a:solidFill>
                  <a:srgbClr val="000000"/>
                </a:solidFill>
                <a:latin typeface="League Spartan"/>
                <a:ea typeface="League Spartan"/>
                <a:cs typeface="League Spartan"/>
                <a:sym typeface="League Spartan"/>
              </a:rPr>
              <a:t>MCQ</a:t>
            </a:r>
          </a:p>
          <a:p>
            <a:pPr algn="ctr">
              <a:lnSpc>
                <a:spcPts val="5222"/>
              </a:lnSpc>
            </a:pPr>
          </a:p>
          <a:p>
            <a:pPr algn="ctr">
              <a:lnSpc>
                <a:spcPts val="5222"/>
              </a:lnSpc>
            </a:pPr>
            <a:r>
              <a:rPr lang="en-US" sz="3730">
                <a:solidFill>
                  <a:srgbClr val="000000"/>
                </a:solidFill>
                <a:latin typeface="League Spartan"/>
                <a:ea typeface="League Spartan"/>
                <a:cs typeface="League Spartan"/>
                <a:sym typeface="League Spartan"/>
              </a:rPr>
              <a:t>Assessment level</a:t>
            </a:r>
          </a:p>
          <a:p>
            <a:pPr algn="ctr">
              <a:lnSpc>
                <a:spcPts val="5222"/>
              </a:lnSpc>
            </a:pPr>
            <a:r>
              <a:rPr lang="en-US" sz="3730">
                <a:solidFill>
                  <a:srgbClr val="000000"/>
                </a:solidFill>
                <a:latin typeface="League Spartan"/>
                <a:ea typeface="League Spartan"/>
                <a:cs typeface="League Spartan"/>
                <a:sym typeface="League Spartan"/>
              </a:rPr>
              <a:t>BL3</a:t>
            </a:r>
          </a:p>
          <a:p>
            <a:pPr algn="ctr">
              <a:lnSpc>
                <a:spcPts val="5222"/>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DAHDjqRC4ms</dc:identifier>
  <dcterms:modified xsi:type="dcterms:W3CDTF">2011-08-01T06:04:30Z</dcterms:modified>
  <cp:revision>1</cp:revision>
  <dc:title>Bringing Your Vision to Life</dc:title>
</cp:coreProperties>
</file>